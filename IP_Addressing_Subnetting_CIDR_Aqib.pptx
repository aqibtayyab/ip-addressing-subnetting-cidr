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85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457200"/>
            <a:ext cx="5486400" cy="4114800"/>
          </a:xfrm>
          <a:prstGeom prst="ellipse">
            <a:avLst/>
          </a:prstGeom>
          <a:solidFill>
            <a:srgbClr val="001020">
              <a:alpha val="70000"/>
            </a:srgbClr>
          </a:solidFill>
          <a:ln w="12700">
            <a:solidFill>
              <a:srgbClr val="001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256032"/>
            <a:ext cx="2355494" cy="20116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56032"/>
            <a:ext cx="23554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NETWORKING  |  PART 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7200" y="6583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457200" y="13533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&amp; CIDR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57200" y="19933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Structure · Public vs Private · RFC 1918 · Subnet Mask · CIDR · ipcalc · Nmap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2423160"/>
            <a:ext cx="1298448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7200" y="24871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847088" y="2423160"/>
            <a:ext cx="1298448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847088" y="24871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1918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36976" y="2423160"/>
            <a:ext cx="1298448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236976" y="24871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CIDR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26864" y="2423160"/>
            <a:ext cx="1298448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626864" y="24871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016752" y="2423160"/>
            <a:ext cx="1298448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CED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016752" y="24871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ipcalc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06640" y="2423160"/>
            <a:ext cx="1298448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406640" y="248716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3246120"/>
            <a:ext cx="8412480" cy="530352"/>
          </a:xfrm>
          <a:prstGeom prst="rect">
            <a:avLst/>
          </a:prstGeom>
          <a:solidFill>
            <a:srgbClr val="0A1A2A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0080" y="32918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 Context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0080" y="349300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→ identify target IPs  ·  CIDR scan for live hosts  ·  Network segmentation = defense  ·  Internal enum after pivot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4114800"/>
            <a:ext cx="23774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40080" y="41696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Aqib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0080" y="43891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Student | Pakistan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IP Address?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069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27101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Protocol Address — a unique logical identifier assigned to every device on a network.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4996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postal address for your device. Without it, packets have nowhere to go.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9019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STRUCTURE — 32 bits / 4 Octets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231136"/>
            <a:ext cx="1993392" cy="877824"/>
          </a:xfrm>
          <a:prstGeom prst="rect">
            <a:avLst/>
          </a:prstGeom>
          <a:solidFill>
            <a:srgbClr val="161B22"/>
          </a:solidFill>
          <a:ln w="254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228600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47472" y="2706624"/>
            <a:ext cx="1993392" cy="347472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2743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3127248"/>
            <a:ext cx="1993392" cy="256032"/>
          </a:xfrm>
          <a:prstGeom prst="rect">
            <a:avLst/>
          </a:prstGeom>
          <a:solidFill>
            <a:srgbClr val="0A1A2A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31546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40864" y="2286000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2468880" y="2231136"/>
            <a:ext cx="1993392" cy="877824"/>
          </a:xfrm>
          <a:prstGeom prst="rect">
            <a:avLst/>
          </a:prstGeom>
          <a:solidFill>
            <a:srgbClr val="161B22"/>
          </a:solidFill>
          <a:ln w="254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228600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2468880" y="2706624"/>
            <a:ext cx="1993392" cy="347472"/>
          </a:xfrm>
          <a:prstGeom prst="rect">
            <a:avLst/>
          </a:prstGeom>
          <a:solidFill>
            <a:srgbClr val="1C2128"/>
          </a:solidFill>
          <a:ln w="1016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2743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127248"/>
            <a:ext cx="1993392" cy="256032"/>
          </a:xfrm>
          <a:prstGeom prst="rect">
            <a:avLst/>
          </a:prstGeom>
          <a:solidFill>
            <a:srgbClr val="0A1A2A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68880" y="31546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62272" y="2286000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4590288" y="2231136"/>
            <a:ext cx="1993392" cy="877824"/>
          </a:xfrm>
          <a:prstGeom prst="rect">
            <a:avLst/>
          </a:prstGeom>
          <a:solidFill>
            <a:srgbClr val="161B22"/>
          </a:solidFill>
          <a:ln w="254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90288" y="228600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4590288" y="2706624"/>
            <a:ext cx="1993392" cy="347472"/>
          </a:xfrm>
          <a:prstGeom prst="rect">
            <a:avLst/>
          </a:prstGeom>
          <a:solidFill>
            <a:srgbClr val="1C2128"/>
          </a:solidFill>
          <a:ln w="1016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90288" y="2743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90288" y="3127248"/>
            <a:ext cx="1993392" cy="256032"/>
          </a:xfrm>
          <a:prstGeom prst="rect">
            <a:avLst/>
          </a:prstGeom>
          <a:solidFill>
            <a:srgbClr val="0A1A2A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90288" y="31546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0" y="2286000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6711696" y="2231136"/>
            <a:ext cx="1993392" cy="877824"/>
          </a:xfrm>
          <a:prstGeom prst="rect">
            <a:avLst/>
          </a:prstGeom>
          <a:solidFill>
            <a:srgbClr val="161B22"/>
          </a:solidFill>
          <a:ln w="2540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11696" y="228600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6711696" y="2706624"/>
            <a:ext cx="1993392" cy="347472"/>
          </a:xfrm>
          <a:prstGeom prst="rect">
            <a:avLst/>
          </a:prstGeom>
          <a:solidFill>
            <a:srgbClr val="1C2128"/>
          </a:solidFill>
          <a:ln w="1016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11696" y="27432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11696" y="3127248"/>
            <a:ext cx="1993392" cy="256032"/>
          </a:xfrm>
          <a:prstGeom prst="rect">
            <a:avLst/>
          </a:prstGeom>
          <a:solidFill>
            <a:srgbClr val="1A1000"/>
          </a:solidFill>
          <a:ln w="1016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11696" y="315468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34655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octet: 8 bits   →   value range: 0 – 255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0" y="3465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2³² = ~4.3 Billion addresses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767328"/>
            <a:ext cx="416052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" y="3822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40599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 ·  4.3B addresses  ·  Still dominant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192.168.1.10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36592" y="3767328"/>
            <a:ext cx="404164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37760" y="3822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37760" y="4059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 ·  340 undecillion addresses  ·  Growing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2001:0db8::1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Private IP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024128"/>
            <a:ext cx="4892040" cy="3127248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8813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 RANGES  (RFC 1918)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routable on the internet. Internal use only.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627632"/>
            <a:ext cx="4590288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627632"/>
            <a:ext cx="548640" cy="65836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3736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7007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  —  10.255.255.255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19568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 / ISP · 16.7M hosts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404872"/>
            <a:ext cx="4590288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404872"/>
            <a:ext cx="548640" cy="6583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1460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4780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  —  172.31.255.255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27340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networks · 1M hosts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182112"/>
            <a:ext cx="4590288" cy="658368"/>
          </a:xfrm>
          <a:prstGeom prst="rect">
            <a:avLst/>
          </a:prstGeom>
          <a:solidFill>
            <a:srgbClr val="1C212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182112"/>
            <a:ext cx="548640" cy="6583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9184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255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  —  192.168.255.255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" y="3511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Small office · 65K hosts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94960" y="1024128"/>
            <a:ext cx="3401568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108813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by your ISP. Visible on the internet. Unique globally.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1664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attack surface.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18836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E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cmd: curl ifconfig.me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2542032"/>
            <a:ext cx="3401568" cy="1609344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77840" y="2606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ADDRESSES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45836" y="2921508"/>
            <a:ext cx="100584" cy="10058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88036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23760" y="28803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87568" y="3063240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machine. If this fails — network stack broken.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545836" y="3305556"/>
            <a:ext cx="100584" cy="10058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26440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23760" y="32644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87568" y="3447288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'Any destination.' Used in routing tables.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545836" y="3689604"/>
            <a:ext cx="100584" cy="10058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364845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255.255.255.255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23760" y="36484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87568" y="3831336"/>
            <a:ext cx="2999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all hosts on segment simultaneously.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0040" y="4224528"/>
            <a:ext cx="8476488" cy="512064"/>
          </a:xfrm>
          <a:prstGeom prst="rect">
            <a:avLst/>
          </a:prstGeom>
          <a:solidFill>
            <a:srgbClr val="0D281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4279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 CONTEXT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" y="44805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found → attack surface mapped. Private range found (post-pivot) → internal enumeration begins. nmap -sn 10.0.0.0/8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ED1"/>
          </a:solidFill>
          <a:ln w="12700">
            <a:solidFill>
              <a:srgbClr val="00CE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Practical — Kali Terminal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on your Kali machine. Understand what every line means.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79392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80160"/>
            <a:ext cx="4279392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44168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 addr show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1737360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9768" y="192024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network interfaces and their assigned IPs.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267712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2450592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 = main interface. lo = loopback (127.0.0.1). inet line = your IPv4 address + CIDR.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4279392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99232"/>
            <a:ext cx="4279392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63240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ping 127.0.0.1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456432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9768" y="3639312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test — are you pinging yourself?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" y="3986784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9768" y="4169664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= network stack is alive. Request timeout = something is broken at OS level.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36592" y="1280160"/>
            <a:ext cx="4279392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1280160"/>
            <a:ext cx="4279392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44168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ping &lt;metasploitable-ip&gt;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737360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192024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ICMP connectivity to target VM.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267712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2450592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= machine is reachable. No reply = firewall blocking ICMP or host is down.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36592" y="2999232"/>
            <a:ext cx="4279392" cy="1572768"/>
          </a:xfrm>
          <a:prstGeom prst="rect">
            <a:avLst/>
          </a:prstGeom>
          <a:solidFill>
            <a:srgbClr val="161B22"/>
          </a:solidFill>
          <a:ln w="1905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2999232"/>
            <a:ext cx="4279392" cy="365760"/>
          </a:xfrm>
          <a:prstGeom prst="rect">
            <a:avLst/>
          </a:prstGeom>
          <a:solidFill>
            <a:srgbClr val="1C2128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63240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 addr show eth0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456432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3639312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eth0 interface detail.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986784"/>
            <a:ext cx="4059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46320" y="4169664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inet line → your IP in CIDR format e.g. 192.168.1.100/24  ← that /24 is subnetting.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Subnetting?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69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27101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 large IP network into smaller sub-networks. Each subnet is an isolated broadcast domain.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 — IP conservation: Don't waste 246 addresses if you only need 10.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8503920" cy="475488"/>
          </a:xfrm>
          <a:prstGeom prst="rect">
            <a:avLst/>
          </a:prstGeom>
          <a:solidFill>
            <a:srgbClr val="2A0A0A"/>
          </a:solidFill>
          <a:ln w="12700">
            <a:solidFill>
              <a:srgbClr val="F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828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 — SECURITY: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02996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 breach. If attacker compromises Subnet A — Subnets B and C stay isolated. This is Network Segmentation.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377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 — How it works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6974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10512" y="2670048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10512" y="26974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69748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93592" y="2670048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93592" y="26974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269748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76672" y="2670048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76672" y="26974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269748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59752" y="2670048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59752" y="26974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" y="30906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10512" y="3063240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10512" y="30906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09067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93592" y="3063240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593592" y="30906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66360" y="309067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76672" y="3063240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76672" y="30906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309067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59752" y="3063240"/>
            <a:ext cx="1572768" cy="320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59752" y="309067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0040" y="349300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10512" y="3474720"/>
            <a:ext cx="1572768" cy="256032"/>
          </a:xfrm>
          <a:prstGeom prst="rect">
            <a:avLst/>
          </a:prstGeom>
          <a:solidFill>
            <a:srgbClr val="1C2128"/>
          </a:solidFill>
          <a:ln w="1016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810512" y="349300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93592" y="3474720"/>
            <a:ext cx="1572768" cy="256032"/>
          </a:xfrm>
          <a:prstGeom prst="rect">
            <a:avLst/>
          </a:prstGeom>
          <a:solidFill>
            <a:srgbClr val="1C2128"/>
          </a:solidFill>
          <a:ln w="1016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593592" y="349300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76672" y="3474720"/>
            <a:ext cx="1572768" cy="256032"/>
          </a:xfrm>
          <a:prstGeom prst="rect">
            <a:avLst/>
          </a:prstGeom>
          <a:solidFill>
            <a:srgbClr val="1C2128"/>
          </a:solidFill>
          <a:ln w="1016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76672" y="349300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59752" y="3474720"/>
            <a:ext cx="1572768" cy="256032"/>
          </a:xfrm>
          <a:prstGeom prst="rect">
            <a:avLst/>
          </a:prstGeom>
          <a:solidFill>
            <a:srgbClr val="1C2128"/>
          </a:solidFill>
          <a:ln w="1016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59752" y="349300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810512" y="3822192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NETWORK PORTION (locked)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78040" y="382219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PORTION →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4114800"/>
            <a:ext cx="8503920" cy="530352"/>
          </a:xfrm>
          <a:prstGeom prst="rect">
            <a:avLst/>
          </a:prstGeom>
          <a:solidFill>
            <a:srgbClr val="1A1000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02920" y="41696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02920" y="43708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in subnet mask = network bits (fixed). 0 = host bits (variable). First 3 octets = network. Last octet = devices on that network.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698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— Classless Inter-Domain Routing (IETF, 1993)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2984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the rigid Class A/B/C system. Notation: IP/prefix-length  where prefix = number of network bits.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416052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8470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addresses  =  2^(32 - prefix)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Usable hosts     =  2^(32 - prefix)  − 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908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(subtract network addr + broadcast addr)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783080"/>
            <a:ext cx="416052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8470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192.168.1.0/24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0848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/24  →  24 bits = network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left for hosts  →  2⁸ = 256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6746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256 − 2  =  254 usable hosts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81635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REFERENCE TABLE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0723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80160" y="3072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63240" y="30723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23360" y="307238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Hosts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30723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310128"/>
            <a:ext cx="8503920" cy="0"/>
          </a:xfrm>
          <a:prstGeom prst="line">
            <a:avLst/>
          </a:prstGeom>
          <a:noFill/>
          <a:ln w="635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364992"/>
            <a:ext cx="850392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364992"/>
            <a:ext cx="877824" cy="23774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3832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43584" y="3383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255.0.0.0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26664" y="33832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86784" y="3383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16,777,214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9784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ISPs, enterprise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621024"/>
            <a:ext cx="850392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21024"/>
            <a:ext cx="877824" cy="23774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3931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43584" y="363931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255.255.0.0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26664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86784" y="36393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9784" y="3639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/ data center networks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877056"/>
            <a:ext cx="850392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877056"/>
            <a:ext cx="877824" cy="23774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895344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243584" y="389534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026664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86784" y="38953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9784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LAN / home network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133088"/>
            <a:ext cx="850392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4133088"/>
            <a:ext cx="877824" cy="237744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151376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243584" y="41513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255.255.255.240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026664" y="41513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86784" y="41513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29784" y="4151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segments / VLAN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389120"/>
            <a:ext cx="850392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4389120"/>
            <a:ext cx="877824" cy="23774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40740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/30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243584" y="44074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255.255.255.252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026664" y="44074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986784" y="44074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29784" y="4407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router links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645152"/>
            <a:ext cx="8503920" cy="237744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4645152"/>
            <a:ext cx="877824" cy="23774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66344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/32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243584" y="4663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255.255.255.255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026664" y="4663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986784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(host)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129784" y="4663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 route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Practical — Lab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ipcalc + nmap on Kali against Metasploitable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279392" cy="1591056"/>
          </a:xfrm>
          <a:prstGeom prst="rect">
            <a:avLst/>
          </a:prstGeom>
          <a:solidFill>
            <a:srgbClr val="161B22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98448"/>
            <a:ext cx="4279392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44168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ipcalc 192.168.1.0/24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171907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calculator — breaks down any CIDR block completely.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2048256"/>
            <a:ext cx="4059936" cy="749808"/>
          </a:xfrm>
          <a:prstGeom prst="rect">
            <a:avLst/>
          </a:prstGeom>
          <a:solidFill>
            <a:srgbClr val="0A0F14"/>
          </a:solidFill>
          <a:ln w="1016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" y="210312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Network: 192.168.1.0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1208" y="224028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HostMin: 192.168.1.1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1208" y="237744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HostMax: 192.168.1.254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1208" y="251460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Broadcast: 192.168.1.255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1208" y="265176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Hosts/Net: 254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3035808"/>
            <a:ext cx="4279392" cy="1591056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35808"/>
            <a:ext cx="4279392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081528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ipcalc 192.168.1.0/28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345643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/28 — much smaller block. Compare output with /24.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" y="3785616"/>
            <a:ext cx="4059936" cy="749808"/>
          </a:xfrm>
          <a:prstGeom prst="rect">
            <a:avLst/>
          </a:prstGeom>
          <a:solidFill>
            <a:srgbClr val="0A0F14"/>
          </a:solidFill>
          <a:ln w="1016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208" y="384048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8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Network: 192.168.1.0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1208" y="397764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HostMin: 192.168.1.1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1208" y="411480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HostMax: 192.168.1.14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1208" y="425196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Broadcast: 192.168.1.15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1208" y="438912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Hosts/Net: 14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36592" y="1298448"/>
            <a:ext cx="4279392" cy="1591056"/>
          </a:xfrm>
          <a:prstGeom prst="rect">
            <a:avLst/>
          </a:prstGeom>
          <a:solidFill>
            <a:srgbClr val="161B22"/>
          </a:solidFill>
          <a:ln w="1905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298448"/>
            <a:ext cx="4279392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344168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ipcalc 10.0.0.0/8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171907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enterprise/ISP range — see the scale difference.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048256"/>
            <a:ext cx="4059936" cy="749808"/>
          </a:xfrm>
          <a:prstGeom prst="rect">
            <a:avLst/>
          </a:prstGeom>
          <a:solidFill>
            <a:srgbClr val="0A0F14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210312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Network: 10.0.0.0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37760" y="224028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HostMin: 10.0.0.1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37760" y="237744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HostMax: 10.255.255.254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37760" y="251460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Broadcast: 10.255.255.255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37760" y="265176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Hosts/Net: 16,777,214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36592" y="3035808"/>
            <a:ext cx="4279392" cy="1591056"/>
          </a:xfrm>
          <a:prstGeom prst="rect">
            <a:avLst/>
          </a:prstGeom>
          <a:solidFill>
            <a:srgbClr val="161B22"/>
          </a:solidFill>
          <a:ln w="1905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3035808"/>
            <a:ext cx="4279392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81528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nmap -sn 192.168.1.0/24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345643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scan — discover all live hosts in subnet. No port scan.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3785616"/>
            <a:ext cx="4059936" cy="749808"/>
          </a:xfrm>
          <a:prstGeom prst="rect">
            <a:avLst/>
          </a:prstGeom>
          <a:solidFill>
            <a:srgbClr val="0A0F14"/>
          </a:solidFill>
          <a:ln w="1016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37760" y="384048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-sn = no port scan (ping only)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37760" y="397764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 Metasploitable 2 IP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37760" y="411480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 / ARP used for discovery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37760" y="425196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step of every pentest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937760" y="4389120"/>
            <a:ext cx="387705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Report: hosts up / down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389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5" name="Shape 43"/>
          <p:cNvSpPr/>
          <p:nvPr/>
        </p:nvSpPr>
        <p:spPr>
          <a:xfrm>
            <a:off x="365760" y="1024128"/>
            <a:ext cx="8412480" cy="685800"/>
          </a:xfrm>
          <a:prstGeom prst="rect">
            <a:avLst/>
          </a:prstGeom>
          <a:solidFill>
            <a:srgbClr val="161B22"/>
          </a:solidFill>
          <a:ln w="254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1115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cannot read the network, you cannot attack it. If you cannot attack it, you cannot defend it."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1874520"/>
            <a:ext cx="425196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1874520"/>
            <a:ext cx="457200" cy="65836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194767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" y="193852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= 32 bits / 4 octets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4400" y="2203704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0–255 per octet. Total: ~4.3B addresses. Format: 192.168.1.10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2679192"/>
            <a:ext cx="425196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2679192"/>
            <a:ext cx="457200" cy="65836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2752344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2743200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ranges (RFC 1918)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14400" y="300837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10.x, 172.16–31.x, 192.168.x — not routable on internet. Your lab network.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483864"/>
            <a:ext cx="425196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5760" y="3483864"/>
            <a:ext cx="457200" cy="65836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3557016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14400" y="35478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Subnetting = network division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14400" y="3813048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 separates network bits from host bits. Security benefit: segmentation.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36592" y="1874520"/>
            <a:ext cx="425196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36592" y="1874520"/>
            <a:ext cx="457200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36592" y="194767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285232" y="193852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/24 = 254 usable hosts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85232" y="2203704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2^(32-prefix) − 2. /30 = 2 hosts. /32 = single host.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36592" y="2679192"/>
            <a:ext cx="425196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9D4EDD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736592" y="2679192"/>
            <a:ext cx="457200" cy="6583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36592" y="2752344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285232" y="27432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ipcalc + nmap -sn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285232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ipcalc breaks down any CIDR. nmap -sn finds all live hosts — recon step 1.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65760" y="4645152"/>
            <a:ext cx="1020470" cy="201168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365760" y="4654296"/>
            <a:ext cx="10204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#IPAddressing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477670" y="4645152"/>
            <a:ext cx="888797" cy="201168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477670" y="4654296"/>
            <a:ext cx="8887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#Subnetting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457907" y="4645152"/>
            <a:ext cx="493776" cy="201168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2457907" y="465429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#CIDR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043123" y="4645152"/>
            <a:ext cx="1217981" cy="201168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043123" y="4654296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#NetworkSecurity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352544" y="4645152"/>
            <a:ext cx="1086307" cy="201168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4352544" y="4654296"/>
            <a:ext cx="1086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#Cybersecurity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530291" y="4645152"/>
            <a:ext cx="1283818" cy="201168"/>
          </a:xfrm>
          <a:prstGeom prst="rect">
            <a:avLst/>
          </a:prstGeom>
          <a:solidFill>
            <a:srgbClr val="1C2128"/>
          </a:solidFill>
          <a:ln w="1016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5530291" y="4654296"/>
            <a:ext cx="128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#LearningInPublic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492240" y="4188712"/>
            <a:ext cx="2468880" cy="393192"/>
          </a:xfrm>
          <a:prstGeom prst="rect">
            <a:avLst/>
          </a:prstGeom>
          <a:solidFill>
            <a:srgbClr val="161B22"/>
          </a:solidFill>
          <a:ln w="12700">
            <a:solidFill>
              <a:srgbClr val="00B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6675120" y="41978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Aqib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675120" y="4399024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Student | Pakistan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8288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Aqib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572000" y="48920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+ Subnetting &amp; CIDR</a:t>
            </a:r>
            <a:endParaRPr lang="en-US" sz="700" dirty="0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748" y="4163186"/>
            <a:ext cx="448057" cy="4480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1167</Words>
  <Application>Microsoft Office PowerPoint</Application>
  <PresentationFormat>On-screen Show (16:9)</PresentationFormat>
  <Paragraphs>257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 Addressing + Subnetting &amp; CIDR</dc:title>
  <dc:subject>PptxGenJS Presentation</dc:subject>
  <dc:creator>Aqib</dc:creator>
  <cp:lastModifiedBy>aqib Tayyab</cp:lastModifiedBy>
  <cp:revision>2</cp:revision>
  <dcterms:created xsi:type="dcterms:W3CDTF">2026-05-07T12:00:41Z</dcterms:created>
  <dcterms:modified xsi:type="dcterms:W3CDTF">2026-05-21T09:04:00Z</dcterms:modified>
</cp:coreProperties>
</file>